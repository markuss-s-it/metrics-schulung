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2.wmf" ContentType="image/x-wmf"/>
  <Override PartName="/ppt/media/image1.wmf" ContentType="image/x-wmf"/>
  <Override PartName="/ppt/media/image3.wmf" ContentType="image/x-wmf"/>
  <Override PartName="/ppt/media/image7.svg" ContentType="image/svg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6000" b="1" u="none" spc="130" strike="noStrike">
                <a:solidFill>
                  <a:schemeClr val="lt1"/>
                </a:solidFill>
                <a:effectLst/>
                <a:uFillTx/>
                <a:latin typeface="Kallisto"/>
              </a:rPr>
              <a:t>Click to move the slide</a:t>
            </a:r>
            <a:endParaRPr lang="de-DE" sz="6000" b="1" u="none" spc="130" strike="noStrike">
              <a:solidFill>
                <a:schemeClr val="lt1"/>
              </a:solidFill>
              <a:effectLst/>
              <a:uFillTx/>
              <a:latin typeface="Kallisto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2504C80-85E2-4A4D-A39A-A8C4E01BF198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75289B-533C-458C-A4CE-93E4CE96245E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E8CE3A-A4D2-4545-860D-AE6C4DE6FD6B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7D72E7-1215-4031-A1BD-731D66DF7C54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A54A85-6142-4610-A0BE-05FDE335427C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C39CC3-1F0E-40FB-9D8E-3558FC4FA5E0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23D3EF-E6A7-4DF5-9062-DC94D7C462AC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D38375-9692-4093-B923-23421DC134A3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74521A-146A-4686-87D5-322BA2B904A0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BFE24E-3557-41F0-A43E-B559D511B3A0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DF642C-01D2-45D2-B5D8-F11A0B262EB8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4635EB-027B-49FC-A70B-0C1FA49E775D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79EAB1-C38F-4782-8845-9B6646305679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E4495C-DBF4-40AF-83B8-13EB9B47F2C7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FCD7E3-D115-4E36-B47F-4AAD932A06D3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ADF1F9-EFCE-42EB-892B-AFC8652A1E59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D3B04A-07F8-4180-94D7-C88D893DE367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FAFECE-473B-4CE5-85FD-9308268EC924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84408D-6011-46FF-8154-5A0A6CBAE661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4C8FF36-214F-42EC-AFDC-A70B9E89EBDD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4826B3-7BF2-4D84-A972-DA385D8FF16D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AA02D8-31A8-48E7-8D27-AA06A95512CF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C991C8-9FF4-49D0-A94A-667BD8825C08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C46E4F-2F19-4043-99A8-B01868CDC973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AB77FB-F6F1-4386-B1A7-A8D253362851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9DA9A1-92DF-4DEA-B9BB-E33F2AD4E8D6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20B2AB-EC45-4760-8992-87835A0C72F6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204507D-84AC-463F-9084-FFB178A2EA86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79B455-9721-4800-9741-A9D12BB9BFD3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46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5148BD-ECB8-47AD-A077-482F65FBD772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12C919-816D-4D7B-B02B-99F31A69CDCE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1860FD-0466-4898-BE4A-E8C800D89C3F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FCCE88-32EF-4AB4-8F97-1655035C474C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F534A4-D6BE-43B3-A45A-6BAC6E27733E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67F6CE-606F-4278-9614-28FD7B0ABBD9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EF3629-FF90-4BA6-83C6-6B0DEE35FB05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D53DB0-C0E1-4CC9-9641-4DDF6B0AD91F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1CC67D-17DC-4B7D-AF3E-9BE932A9B171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8164E2-D253-44C2-846B-6604A855B130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21197F-ADB9-445D-9628-1435252875B7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5694EB-5FB6-4B1F-80B4-D6E633018453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nach Parent sind hier noch die jeweiligen Versionsnummern zu eränzen.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362283-FB3F-43C4-AFFD-B822BA13464D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2.wmf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wmf"/><Relationship Id="rId4" Type="http://schemas.openxmlformats.org/officeDocument/2006/relationships/image" Target="../media/image2.w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2.wmf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infach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rafik 7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11064240" y="-871560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5C9112-EF71-458A-A894-AB1080E02A0E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Grafik 11"/>
          <p:cNvPicPr/>
          <p:nvPr/>
        </p:nvPicPr>
        <p:blipFill>
          <a:blip r:embed="rId4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Click to edit the outline text format</a:t>
            </a:r>
            <a:endParaRPr lang="de-DE" sz="2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el und Inha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0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Mastertitelformat bearbeiten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2636640"/>
            <a:ext cx="105141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2pPr>
            <a:lvl3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3pPr>
            <a:lvl4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1F2222"/>
              </a:buClr>
              <a:buSzPct val="45000"/>
              <a:buFont typeface="Arial"/>
              <a:buChar char="•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5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Mastertextformat bearbeiten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Zweite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Dritte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Vierte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Fünfte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933120" y="2245320"/>
            <a:ext cx="1608480" cy="6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520" rIns="90000" bIns="2052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4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4CCA6E-A383-47AA-BD33-3AD1937280B9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Grafik 24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Rechteck 7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chemeClr val="tx1"/>
          </a:solidFill>
          <a:ln>
            <a:solidFill>
              <a:srgbClr val="161919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2188440"/>
            <a:ext cx="9142560" cy="180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6000" b="1" u="none" spc="130" strike="noStrike">
                <a:solidFill>
                  <a:schemeClr val="lt1"/>
                </a:solidFill>
                <a:effectLst/>
                <a:uFillTx/>
                <a:latin typeface="Kallis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1" u="none" spc="130" strike="noStrike">
                <a:solidFill>
                  <a:schemeClr val="lt1"/>
                </a:solidFill>
                <a:effectLst/>
                <a:uFillTx/>
                <a:latin typeface="Kallisto"/>
              </a:rPr>
              <a:t>MASTERTITELFORMAT BEARBEITEN</a:t>
            </a:r>
            <a:endParaRPr lang="de-DE" sz="6000" b="1" u="none" spc="130" strike="noStrike">
              <a:solidFill>
                <a:schemeClr val="lt1"/>
              </a:solidFill>
              <a:effectLst/>
              <a:uFillTx/>
              <a:latin typeface="Kallisto"/>
            </a:endParaRPr>
          </a:p>
        </p:txBody>
      </p:sp>
      <p:pic>
        <p:nvPicPr>
          <p:cNvPr id="19" name="Grafik 10"/>
          <p:cNvPicPr/>
          <p:nvPr/>
        </p:nvPicPr>
        <p:blipFill>
          <a:blip r:embed="rId3"/>
          <a:stretch/>
        </p:blipFill>
        <p:spPr>
          <a:xfrm>
            <a:off x="10915560" y="239760"/>
            <a:ext cx="875160" cy="89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2"/>
          <p:cNvSpPr>
            <a:spLocks noGrp="1"/>
          </p:cNvSpPr>
          <p:nvPr>
            <p:ph type="sldNum" idx="5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04B7F9-CFDB-4DE1-ACED-F1CF75E0809F}" type="slidenum">
              <a:rPr lang="de-DE" sz="1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" name="Grafik 18"/>
          <p:cNvPicPr/>
          <p:nvPr/>
        </p:nvPicPr>
        <p:blipFill>
          <a:blip r:embed="rId4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Click to edit the outline text format</a:t>
            </a:r>
            <a:endParaRPr lang="de-DE" sz="2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0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Mastertitelformat bearbeiten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2636640"/>
            <a:ext cx="105141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2pPr>
            <a:lvl3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3pPr>
            <a:lvl4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1F2222"/>
              </a:buClr>
              <a:buSzPct val="45000"/>
              <a:buFont typeface="Arial"/>
              <a:buChar char="•"/>
              <a:def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5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Mastertextformat bearbeiten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Zweite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Dritte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Vierte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Fünfte Ebene</a:t>
            </a:r>
            <a:endParaRPr lang="de-DE" sz="1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6" name="Rechteck 11"/>
          <p:cNvSpPr/>
          <p:nvPr/>
        </p:nvSpPr>
        <p:spPr>
          <a:xfrm>
            <a:off x="933120" y="2245320"/>
            <a:ext cx="1608480" cy="6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520" rIns="90000" bIns="2052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7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5A6EAF-E47C-4526-819C-05A8CCDA5CBE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Grafik 24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1" u="none" spc="130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Mastertitelformat bearbeiten</a:t>
            </a:r>
            <a:endParaRPr lang="de-DE" sz="4400" b="1" u="none" spc="130" strike="noStrike">
              <a:solidFill>
                <a:schemeClr val="dk1"/>
              </a:solidFill>
              <a:effectLst/>
              <a:uFillTx/>
              <a:latin typeface="Kallisto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9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4E1F91-DCF5-4F55-B1B7-3A11C4F5938A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" name="Grafik 16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Click to edit the outline text format</a:t>
            </a:r>
            <a:endParaRPr lang="de-DE" sz="2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1_Nur 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8644680" cy="127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0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Mastertitelformat bearbeiten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1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5EC504-4BB9-4E34-AD15-7C2EDECEB131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Grafik 13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3759480" y="-35146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Click to edit the outline text format</a:t>
            </a:r>
            <a:endParaRPr lang="de-DE" sz="2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6000" b="1" u="none" spc="130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Mastertitelformat bearbeiten</a:t>
            </a:r>
            <a:endParaRPr lang="de-DE" sz="6000" b="1" u="none" spc="130" strike="noStrike">
              <a:solidFill>
                <a:schemeClr val="dk1"/>
              </a:solidFill>
              <a:effectLst/>
              <a:uFillTx/>
              <a:latin typeface="Kallisto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  <a:lvl2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2pPr>
            <a:lvl3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3pPr>
            <a:lvl4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4pPr>
            <a:lvl5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5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Mastertextformat bearbeiten</a:t>
            </a:r>
            <a:endParaRPr lang="de-DE" sz="2400" b="0" u="none" spc="130" strike="noStrike">
              <a:solidFill>
                <a:schemeClr val="dk1">
                  <a:tint val="75000"/>
                </a:schemeClr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Zweite Ebene</a:t>
            </a:r>
            <a:endParaRPr lang="de-DE" sz="2400" b="0" u="none" spc="130" strike="noStrike">
              <a:solidFill>
                <a:schemeClr val="dk1">
                  <a:tint val="75000"/>
                </a:schemeClr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Dritte Ebene</a:t>
            </a:r>
            <a:endParaRPr lang="de-DE" sz="2400" b="0" u="none" spc="130" strike="noStrike">
              <a:solidFill>
                <a:schemeClr val="dk1">
                  <a:tint val="75000"/>
                </a:schemeClr>
              </a:solidFill>
              <a:effectLst/>
              <a:uFillTx/>
              <a:latin typeface="Kallisto Medium"/>
            </a:endParaRPr>
          </a:p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Vierte Ebene</a:t>
            </a:r>
            <a:endParaRPr lang="de-DE" sz="2400" b="0" u="none" spc="130" strike="noStrike">
              <a:solidFill>
                <a:schemeClr val="dk1">
                  <a:tint val="75000"/>
                </a:schemeClr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Fünfte Ebene</a:t>
            </a:r>
            <a:endParaRPr lang="de-DE" sz="2400" b="0" u="none" spc="130" strike="noStrike">
              <a:solidFill>
                <a:schemeClr val="dk1">
                  <a:tint val="75000"/>
                </a:schemeClr>
              </a:solidFill>
              <a:effectLst/>
              <a:uFillTx/>
              <a:latin typeface="Kallisto Medium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3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0945C0-D6AE-4D18-88B2-F9928EF05FC4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Grafik 16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hteck 4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chemeClr val="tx1"/>
          </a:solidFill>
          <a:ln>
            <a:solidFill>
              <a:srgbClr val="161919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5"/>
          </p:nvPr>
        </p:nvSpPr>
        <p:spPr>
          <a:xfrm>
            <a:off x="4038480" y="637308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8F25AC-21EE-43D3-8B44-FB99C118DDAC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Grafik 7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Click to edit the outline text format</a:t>
            </a:r>
            <a:endParaRPr lang="de-DE" sz="2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e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fik 9"/>
          <p:cNvPicPr/>
          <p:nvPr/>
        </p:nvPicPr>
        <p:blipFill>
          <a:blip r:embed="rId2"/>
          <a:stretch/>
        </p:blipFill>
        <p:spPr>
          <a:xfrm>
            <a:off x="838080" y="6413760"/>
            <a:ext cx="744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rafik 7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11064240" y="-871560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pc="130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Kallisto Medium"/>
              </a:rPr>
              <a:t>&lt;footer&gt;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8"/>
          </p:nvPr>
        </p:nvSpPr>
        <p:spPr>
          <a:xfrm>
            <a:off x="9179280" y="6389640"/>
            <a:ext cx="2741760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7BD95C-2D35-465C-8135-DACB1D684383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Grafik 11"/>
          <p:cNvPicPr/>
          <p:nvPr/>
        </p:nvPicPr>
        <p:blipFill>
          <a:blip r:embed="rId4">
            <a:alphaModFix amt="25000"/>
          </a:blip>
          <a:stretch/>
        </p:blipFill>
        <p:spPr>
          <a:xfrm>
            <a:off x="3770280" y="-3525480"/>
            <a:ext cx="16619040" cy="17429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838080" y="4136040"/>
            <a:ext cx="9142560" cy="62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pc="130" strike="noStrike">
                <a:solidFill>
                  <a:schemeClr val="lt1"/>
                </a:solidFill>
                <a:effectLst/>
                <a:uFillTx/>
                <a:latin typeface="Kallisto Light"/>
              </a:rPr>
              <a:t>Timer · Counter · Gauge · DistributionSummary · LongTaskTimer · FunctionCounter · FunctionTimer · TimeGauge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838080" y="2188440"/>
            <a:ext cx="9142560" cy="180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1" u="none" spc="130" strike="noStrike">
                <a:solidFill>
                  <a:schemeClr val="lt1"/>
                </a:solidFill>
                <a:effectLst/>
                <a:uFillTx/>
                <a:latin typeface="Kallisto"/>
              </a:rPr>
              <a:t>Micrometer Schulung – Metriken in Spring &amp; Java</a:t>
            </a:r>
            <a:endParaRPr lang="de-DE" sz="6000" b="1" u="none" spc="130" strike="noStrike">
              <a:solidFill>
                <a:schemeClr val="lt1"/>
              </a:solidFill>
              <a:effectLst/>
              <a:uFillTx/>
              <a:latin typeface="Kallisto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9DA8A4-A108-4DD7-84AE-061E5EA2B491}" type="slidenum">
              <a:rPr lang="de-DE" sz="1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el 1"/>
          <p:cNvSpPr/>
          <p:nvPr/>
        </p:nvSpPr>
        <p:spPr>
          <a:xfrm>
            <a:off x="838080" y="1626480"/>
            <a:ext cx="105141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lang="de-DE" sz="4400" b="1" u="none" spc="130" strike="noStrike">
                <a:solidFill>
                  <a:schemeClr val="lt1"/>
                </a:solidFill>
                <a:effectLst/>
                <a:uFillTx/>
                <a:latin typeface="Kallisto Light"/>
              </a:rPr>
              <a:t>Ziele der Schulung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Inhaltsplatzhalter 2"/>
          <p:cNvSpPr/>
          <p:nvPr/>
        </p:nvSpPr>
        <p:spPr>
          <a:xfrm>
            <a:off x="838080" y="2736720"/>
            <a:ext cx="10514160" cy="35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de-DE" sz="1800" b="0" u="none" spc="130" strike="noStrike">
                <a:solidFill>
                  <a:schemeClr val="lt1"/>
                </a:solidFill>
                <a:effectLst/>
                <a:uFillTx/>
                <a:latin typeface="Kallisto Light"/>
              </a:rPr>
              <a:t>Micrometer-Grundlagen und Architektur verstehen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de-DE" sz="1800" b="0" u="none" spc="130" strike="noStrike">
                <a:solidFill>
                  <a:schemeClr val="lt1"/>
                </a:solidFill>
                <a:effectLst/>
                <a:uFillTx/>
                <a:latin typeface="Kallisto Light"/>
              </a:rPr>
              <a:t>Jeden Metrik-Typ korrekt anwenden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de-DE" sz="1800" b="0" u="none" spc="130" strike="noStrike">
                <a:solidFill>
                  <a:schemeClr val="lt1"/>
                </a:solidFill>
                <a:effectLst/>
                <a:uFillTx/>
                <a:latin typeface="Kallisto Light"/>
              </a:rPr>
              <a:t>Best Practices für Tagging, Kardinalität und Units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hteck 5"/>
          <p:cNvSpPr/>
          <p:nvPr/>
        </p:nvSpPr>
        <p:spPr>
          <a:xfrm>
            <a:off x="938160" y="2540880"/>
            <a:ext cx="1608480" cy="64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520" rIns="90000" bIns="2052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Foliennummernplatzhalter 3"/>
          <p:cNvSpPr/>
          <p:nvPr/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</a:pPr>
            <a:fld id="{5EB468EB-E2A6-4300-8B7A-815B85D600DB}" type="slidenum">
              <a:rPr lang="de-DE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 Medium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Grafik 13"/>
          <p:cNvPicPr/>
          <p:nvPr/>
        </p:nvPicPr>
        <p:blipFill>
          <a:blip r:embed="rId1"/>
          <a:stretch/>
        </p:blipFill>
        <p:spPr>
          <a:xfrm>
            <a:off x="0" y="5911200"/>
            <a:ext cx="2307960" cy="18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dt" idx="14"/>
          </p:nvPr>
        </p:nvSpPr>
        <p:spPr/>
        <p:txBody>
          <a:bodyPr/>
          <a:p>
            <a:fld id="{DA09CD3D-9649-4BA3-8C97-6762914F160B}" type="datetime1">
              <a:rPr lang="de-DE"/>
              <a:t>29.05.2026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TABLE OF </a:t>
            </a:r>
            <a:r>
              <a:rPr lang="de-DE" sz="4000" b="0" u="none" spc="130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CONTENTS</a:t>
            </a:r>
            <a:endParaRPr lang="de-DE" sz="4000" b="1" u="none" spc="130" strike="noStrike">
              <a:solidFill>
                <a:schemeClr val="dk1"/>
              </a:solidFill>
              <a:effectLst/>
              <a:uFillTx/>
              <a:latin typeface="Kallisto"/>
            </a:endParaRPr>
          </a:p>
        </p:txBody>
      </p:sp>
      <p:sp>
        <p:nvSpPr>
          <p:cNvPr id="76" name="Titel 1"/>
          <p:cNvSpPr/>
          <p:nvPr/>
        </p:nvSpPr>
        <p:spPr>
          <a:xfrm>
            <a:off x="1646280" y="1634040"/>
            <a:ext cx="3166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1400" b="1" u="none" spc="300" strike="noStrike">
                <a:solidFill>
                  <a:srgbClr val="1E2223"/>
                </a:solidFill>
                <a:effectLst/>
                <a:uFillTx/>
                <a:latin typeface="Kallisto"/>
              </a:rPr>
              <a:t>EINFÜHRUNG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itel 1"/>
          <p:cNvSpPr/>
          <p:nvPr/>
        </p:nvSpPr>
        <p:spPr>
          <a:xfrm>
            <a:off x="990360" y="1566000"/>
            <a:ext cx="76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2000" b="0" u="none" spc="300" strike="noStrike">
                <a:solidFill>
                  <a:srgbClr val="1E2223"/>
                </a:solidFill>
                <a:effectLst/>
                <a:uFillTx/>
                <a:latin typeface="Kallisto Light"/>
              </a:rPr>
              <a:t>01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itel 1"/>
          <p:cNvSpPr/>
          <p:nvPr/>
        </p:nvSpPr>
        <p:spPr>
          <a:xfrm>
            <a:off x="1646280" y="1908360"/>
            <a:ext cx="368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Einführung in Micrometer &amp; Spring Boot Actuator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itel 1"/>
          <p:cNvSpPr/>
          <p:nvPr/>
        </p:nvSpPr>
        <p:spPr>
          <a:xfrm>
            <a:off x="1646280" y="3290400"/>
            <a:ext cx="3166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1400" b="1" u="none" spc="300" strike="noStrike">
                <a:solidFill>
                  <a:srgbClr val="1E2223"/>
                </a:solidFill>
                <a:effectLst/>
                <a:uFillTx/>
                <a:latin typeface="Kallisto"/>
              </a:rPr>
              <a:t>METRIKEN TEIL 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itel 1"/>
          <p:cNvSpPr/>
          <p:nvPr/>
        </p:nvSpPr>
        <p:spPr>
          <a:xfrm>
            <a:off x="990360" y="3222000"/>
            <a:ext cx="76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2000" b="0" u="none" spc="300" strike="noStrike">
                <a:solidFill>
                  <a:srgbClr val="1E2223"/>
                </a:solidFill>
                <a:effectLst/>
                <a:uFillTx/>
                <a:latin typeface="Kallisto Light"/>
              </a:rPr>
              <a:t>02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itel 1"/>
          <p:cNvSpPr/>
          <p:nvPr/>
        </p:nvSpPr>
        <p:spPr>
          <a:xfrm>
            <a:off x="1646280" y="3564720"/>
            <a:ext cx="368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Einführung in die Metriken „Timer“, „Counter“ und „Gauge“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itel 1"/>
          <p:cNvSpPr/>
          <p:nvPr/>
        </p:nvSpPr>
        <p:spPr>
          <a:xfrm>
            <a:off x="6898680" y="1634040"/>
            <a:ext cx="3166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1400" b="1" u="none" spc="300" strike="noStrike">
                <a:solidFill>
                  <a:srgbClr val="1E2223"/>
                </a:solidFill>
                <a:effectLst/>
                <a:uFillTx/>
                <a:latin typeface="Kallisto"/>
              </a:rPr>
              <a:t>METRIKEN TEIL 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itel 1"/>
          <p:cNvSpPr/>
          <p:nvPr/>
        </p:nvSpPr>
        <p:spPr>
          <a:xfrm>
            <a:off x="6242760" y="1566000"/>
            <a:ext cx="76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2000" b="0" u="none" spc="300" strike="noStrike">
                <a:solidFill>
                  <a:srgbClr val="1E2223"/>
                </a:solidFill>
                <a:effectLst/>
                <a:uFillTx/>
                <a:latin typeface="Kallisto Light"/>
              </a:rPr>
              <a:t>04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itel 1"/>
          <p:cNvSpPr/>
          <p:nvPr/>
        </p:nvSpPr>
        <p:spPr>
          <a:xfrm>
            <a:off x="6898680" y="1908360"/>
            <a:ext cx="368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Einführung in die Metriken „FunctionCounter“ und „FunctionTimer“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itel 1"/>
          <p:cNvSpPr/>
          <p:nvPr/>
        </p:nvSpPr>
        <p:spPr>
          <a:xfrm>
            <a:off x="6898680" y="3280680"/>
            <a:ext cx="3166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1400" b="1" u="none" spc="300" strike="noStrike">
                <a:solidFill>
                  <a:srgbClr val="1E2223"/>
                </a:solidFill>
                <a:effectLst/>
                <a:uFillTx/>
                <a:latin typeface="Kallisto"/>
              </a:rPr>
              <a:t>METRIKEN TEIL 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itel 1"/>
          <p:cNvSpPr/>
          <p:nvPr/>
        </p:nvSpPr>
        <p:spPr>
          <a:xfrm>
            <a:off x="6242760" y="3212280"/>
            <a:ext cx="76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2000" b="0" u="none" spc="300" strike="noStrike">
                <a:solidFill>
                  <a:srgbClr val="1E2223"/>
                </a:solidFill>
                <a:effectLst/>
                <a:uFillTx/>
                <a:latin typeface="Kallisto Light"/>
              </a:rPr>
              <a:t>05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itel 1"/>
          <p:cNvSpPr/>
          <p:nvPr/>
        </p:nvSpPr>
        <p:spPr>
          <a:xfrm>
            <a:off x="6898680" y="3555000"/>
            <a:ext cx="368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Einführung in die Metrik „TimeGauge“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3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FB0733-7AA2-4E19-AC79-44AF8E285CEB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Rechteck 22"/>
          <p:cNvSpPr/>
          <p:nvPr/>
        </p:nvSpPr>
        <p:spPr>
          <a:xfrm>
            <a:off x="956520" y="1460160"/>
            <a:ext cx="1608480" cy="6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0520" rIns="90000" bIns="2052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itel 1"/>
          <p:cNvSpPr/>
          <p:nvPr/>
        </p:nvSpPr>
        <p:spPr>
          <a:xfrm>
            <a:off x="1648080" y="4838040"/>
            <a:ext cx="3166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1400" b="1" u="none" spc="300" strike="noStrike">
                <a:solidFill>
                  <a:srgbClr val="1E2223"/>
                </a:solidFill>
                <a:effectLst/>
                <a:uFillTx/>
                <a:latin typeface="Kallisto"/>
              </a:rPr>
              <a:t>METRIKEN TEIL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itel 1"/>
          <p:cNvSpPr/>
          <p:nvPr/>
        </p:nvSpPr>
        <p:spPr>
          <a:xfrm>
            <a:off x="992160" y="4769640"/>
            <a:ext cx="76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2000" b="0" u="none" spc="300" strike="noStrike">
                <a:solidFill>
                  <a:srgbClr val="1E2223"/>
                </a:solidFill>
                <a:effectLst/>
                <a:uFillTx/>
                <a:latin typeface="Kallisto Light"/>
              </a:rPr>
              <a:t>03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itel 1"/>
          <p:cNvSpPr/>
          <p:nvPr/>
        </p:nvSpPr>
        <p:spPr>
          <a:xfrm>
            <a:off x="1648080" y="5112000"/>
            <a:ext cx="368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Einführung in die Metriken „DistributionSummary“ und „LongTaskTimer“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itel 1"/>
          <p:cNvSpPr/>
          <p:nvPr/>
        </p:nvSpPr>
        <p:spPr>
          <a:xfrm>
            <a:off x="6900480" y="4828320"/>
            <a:ext cx="3166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1400" b="1" u="none" spc="300" strike="noStrike">
                <a:solidFill>
                  <a:srgbClr val="1E2223"/>
                </a:solidFill>
                <a:effectLst/>
                <a:uFillTx/>
                <a:latin typeface="Kallisto"/>
              </a:rPr>
              <a:t>ABSCHLUSS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itel 1"/>
          <p:cNvSpPr/>
          <p:nvPr/>
        </p:nvSpPr>
        <p:spPr>
          <a:xfrm>
            <a:off x="6244200" y="4759920"/>
            <a:ext cx="769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de-DE" sz="2000" b="0" u="none" spc="300" strike="noStrike">
                <a:solidFill>
                  <a:srgbClr val="1E2223"/>
                </a:solidFill>
                <a:effectLst/>
                <a:uFillTx/>
                <a:latin typeface="Kallisto Light"/>
              </a:rPr>
              <a:t>06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itel 1"/>
          <p:cNvSpPr/>
          <p:nvPr/>
        </p:nvSpPr>
        <p:spPr>
          <a:xfrm>
            <a:off x="6900480" y="5102280"/>
            <a:ext cx="368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Kallisto Light"/>
              </a:rPr>
              <a:t>Perzentile, Kardinalität und Abschlussquiz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2188440"/>
            <a:ext cx="9142560" cy="180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800" b="1" u="none" spc="130" strike="noStrike">
                <a:solidFill>
                  <a:schemeClr val="lt1"/>
                </a:solidFill>
                <a:effectLst/>
                <a:uFillTx/>
                <a:latin typeface="Kallisto"/>
              </a:rPr>
              <a:t>01</a:t>
            </a:r>
            <a:br>
              <a:rPr sz="4800"/>
            </a:br>
            <a:r>
              <a:rPr lang="de-DE" sz="4800" b="1" u="none" spc="130" strike="noStrike">
                <a:solidFill>
                  <a:schemeClr val="lt1"/>
                </a:solidFill>
                <a:effectLst/>
                <a:uFillTx/>
                <a:latin typeface="Kallisto"/>
              </a:rPr>
              <a:t>Einführung in Micrometer und Spring Boot Actuator</a:t>
            </a:r>
            <a:endParaRPr lang="de-DE" sz="4800" b="1" u="none" spc="130" strike="noStrike">
              <a:solidFill>
                <a:schemeClr val="lt1"/>
              </a:solidFill>
              <a:effectLst/>
              <a:uFillTx/>
              <a:latin typeface="Kallisto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838080" y="4136040"/>
            <a:ext cx="9142560" cy="62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buNone/>
            </a:pPr>
            <a:endParaRPr lang="de-DE" sz="28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202DF3-61B8-4FC2-962B-3EB297A70D55}" type="slidenum">
              <a:rPr lang="de-DE" sz="1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Kallisto"/>
              </a:rPr>
              <a:t>4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Was ist Micrometer?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105141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Vendor-neutrale Metrik-API für JVM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In Spring Boot Actuator integriert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Treiber für Prometheus, Graphite, Datadog, Influx u. a.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Konzept: MeterRegistry + Meters + Tags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it-IT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Konfiguration via application.yml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Unterstützt Timers, Counters, Gauges, Summaries …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Percentiles &amp; Histograms optional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F565F16-F0DA-46CE-B2A8-02CAC432C90E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4"/>
          <p:cNvSpPr>
            <a:spLocks noGrp="1"/>
          </p:cNvSpPr>
          <p:nvPr>
            <p:ph type="sldNum" idx="2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0571E8-56C2-4DF3-A0B7-73AED81EE658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5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Setup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it-IT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Maven normal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8A48052-1C29-4C97-9276-70154613C3A6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4"/>
          <p:cNvSpPr>
            <a:spLocks noGrp="1"/>
          </p:cNvSpPr>
          <p:nvPr>
            <p:ph type="sldNum" idx="2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6470A2-9F58-4CEA-93F2-9D17046154F7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6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feld 9"/>
          <p:cNvSpPr/>
          <p:nvPr/>
        </p:nvSpPr>
        <p:spPr>
          <a:xfrm>
            <a:off x="1198080" y="3063960"/>
            <a:ext cx="4764960" cy="277056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&lt;groupId&gt;org.springframework.boot&lt;/groupId&gt;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&lt;groupId&gt;spring-boot-starter-actuator&lt;/groupId&gt;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&lt;/dependency&gt;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&lt;groupId&gt;io.micrometer&lt;/groupId&gt;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&lt;groupId&gt;micrometer-regestriy-prometheus&lt;/groupId&gt;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&lt;/dependency&gt;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Inhaltsplatzhalter 2"/>
          <p:cNvSpPr/>
          <p:nvPr/>
        </p:nvSpPr>
        <p:spPr>
          <a:xfrm>
            <a:off x="6095880" y="2608920"/>
            <a:ext cx="5256360" cy="35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it-IT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Maven S-IT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feld 14"/>
          <p:cNvSpPr/>
          <p:nvPr/>
        </p:nvSpPr>
        <p:spPr>
          <a:xfrm>
            <a:off x="6341760" y="3065760"/>
            <a:ext cx="4764960" cy="277056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&lt;groupId&gt;dev.sitconsulting&lt;/groupId&gt;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&lt;groupId&gt;sit-service-starter&lt;/groupId&gt;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&lt;/dependency&gt;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ODER: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&lt;groupId&gt;dev.sitconsulting&lt;/groupId&gt;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&lt;groupId&gt;sit-metrics-autoconfiguration&lt;/groupId&gt;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&lt;/dependency&gt;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Konfiguration – application.yml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59404A2-535F-466C-87A8-9E3AD5686C8B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4"/>
          <p:cNvSpPr>
            <a:spLocks noGrp="1"/>
          </p:cNvSpPr>
          <p:nvPr>
            <p:ph type="sldNum" idx="3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A7EDCD-E46E-4E7B-A9DF-8E7F9F9358B7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7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management: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endpoint: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web: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exposure: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include: health, info, prometheus, metrics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schaltet für Spring Boot Actuator die Endpunkte frei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metrics: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tags: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application: testapp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setzt den globalen Tag „application=testapp“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distribution: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percentiles-histogram: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http.server.requests: true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Aktiviert die Histogramme für http-Requests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percentiles: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http.server.requests: 0.5, 0.95, 0.99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Setzt Perzentile für http-Requests auf 50%, 95% und 99%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„Timer“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Misst Dauer und Anzahl von Ereignissen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Typische Kennzahlen: count, total_time, max, mean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Percentiles/Histogramme optional aktivierbar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Nutzbar per Annotation ( @Timed) oder durch Programmierung (Timer.record) 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EFD4828-ED93-4970-A256-2C43CF20B831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1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4"/>
          <p:cNvSpPr>
            <a:spLocks noGrp="1"/>
          </p:cNvSpPr>
          <p:nvPr>
            <p:ph type="sldNum" idx="3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E572EF-874A-4078-8416-72C0EB59707B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8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„Timer“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400000" y="618048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5CAA38C-0B01-4A41-9B89-728BF56E3826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6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4"/>
          <p:cNvSpPr>
            <a:spLocks noGrp="1"/>
          </p:cNvSpPr>
          <p:nvPr>
            <p:ph type="sldNum" idx="3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CB705D-C227-4902-AD6F-D0473F86C94E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9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Per Annotation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@Timed(value = „http.requests“, extraTags = {„endpoint“, „/api/items})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@GetMapping(„/items“)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public List&lt;Item&gt; list() {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return service.list();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}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Timer timer = Timer.builder(„sb.query.duration“)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.description(„Dauer der DB-Abfragen“)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.tag(„repo“, „CustomerRepository“)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.register(meterRegistry);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Timer.record(() -&gt; repository.findALL());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„Timer“ – Fallstricke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2495880"/>
            <a:ext cx="104666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Ab Spring Boot 2.5 muss für @Timed eine Konfiguration erstellt werden.</a:t>
            </a:r>
            <a:br>
              <a:rPr sz="1600"/>
            </a:b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Hierzu folgende Klasse implementieren:</a:t>
            </a:r>
            <a:br>
              <a:rPr sz="1600"/>
            </a:b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3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68B1E7E-7058-4CFD-9BBE-0699F1F6A90F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4"/>
          <p:cNvSpPr>
            <a:spLocks noGrp="1"/>
          </p:cNvSpPr>
          <p:nvPr>
            <p:ph type="sldNum" idx="3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6ECA24-B9A8-4D1D-8E87-9137956766C4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10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feld 8"/>
          <p:cNvSpPr/>
          <p:nvPr/>
        </p:nvSpPr>
        <p:spPr>
          <a:xfrm>
            <a:off x="4119480" y="6176880"/>
            <a:ext cx="183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feld 9"/>
          <p:cNvSpPr/>
          <p:nvPr/>
        </p:nvSpPr>
        <p:spPr>
          <a:xfrm>
            <a:off x="2281320" y="3116520"/>
            <a:ext cx="6827760" cy="393012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import io.micrometer.core.aop.TimedAspect;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import io.micrometer.core.instrument.MeterRegistry;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import org.springframework.context.annotation.Bean;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import org.springframework.context.annotation.Configuration;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@Configuration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public class MetricsConfig {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@Bean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public TimedAspect timedAspect(MeterRegistry registry) {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return new TimedAspect(registry);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}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}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„Timer“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Es existiert bereits die Klasse ItemController mit den Methoden getFirstItemList und getSecondItemList.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Messe die Laufzeit der Methoden, einmal mit per Annotation und einmal programmatisch. Tagge die Ergebnisse mit „item=first“ bzw. „item=second“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Aktiviere Percentile-Histogramme und vergleiche p95 vs. Mean (arithmetisches Mittel) in Grafana.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1B42EEC-BADF-47CA-B9B2-0943CA91CF80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4"/>
          <p:cNvSpPr>
            <a:spLocks noGrp="1"/>
          </p:cNvSpPr>
          <p:nvPr>
            <p:ph type="sldNum" idx="3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4FC2FD-A577-4570-A735-D88063F9B632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„Counter“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Monoton steigender Counter (nur increment)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Kennzahl: count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Verwendung: Bei Events wie Login, Fehler oder Nachrichten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Nicht für abnehmende Werte geeignet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5F61DDD-2535-49E6-A26C-B41ECE5904A0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4"/>
          <p:cNvSpPr>
            <a:spLocks noGrp="1"/>
          </p:cNvSpPr>
          <p:nvPr>
            <p:ph type="sldNum" idx="4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C53AEF-B604-4566-9D44-6E1900A11910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12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„Counter“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4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9F0477D-E819-4434-93CF-8EF83618DA62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4"/>
          <p:cNvSpPr>
            <a:spLocks noGrp="1"/>
          </p:cNvSpPr>
          <p:nvPr>
            <p:ph type="sldNum" idx="4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54F95D-B1E6-4EC8-A7BA-A136B4252A01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13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 1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Counter loginCounter = Counter.builder(„user.login.success“)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.description(„Erfolgreiche Logins“)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.tag(„provider“, „oidc“)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.register(meterRegistry);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loginCounter.increment();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 2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Counter failedLoginCounter = meterRegistry.counter(„user.login.fail“, „provider“, „oidc“);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failedLoginCounter.increment();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„Counter“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Es existiert bereits die Rest-Schnittstelle „LoginController“, welche den Service „LoginService“ aufruft.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Der LoginController enthält den optionalen RequestParameter „user“. Der Wert aus diesem Parameter wird an den Service weitergegeben.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Erstelle Counter, für die erfolgreichen und die fehlgeschlagenen Logins, einmal per Builder und einmal direkt per MeterRegistry.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Erfolgreich ist, wenn der Wert von „user“ gleich „user_accept“ ist. Anderenfalls zählt der Login als fehlgeschlagen.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Tagge die Counter mit „success=true“ und „success=false“.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Füge in Grafana ein Diagram ein mit: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Gesamtzahl der Loginversuche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Erfolgreiche Loginversuche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Fehlgeschlagene Loginversuche</a:t>
            </a:r>
            <a:br>
              <a:rPr sz="1600"/>
            </a:b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615E4BF-1B6E-404E-9605-FA315001ED2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4"/>
          <p:cNvSpPr>
            <a:spLocks noGrp="1"/>
          </p:cNvSpPr>
          <p:nvPr>
            <p:ph type="sldNum" idx="4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CB82AD-6DC1-4003-BB38-0E4D02C15717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14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„Gauge“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Momentanwert wird beobachtet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Kann steigen und fallen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Geeignet für Queue-Größe, Pool-Auslastung, Cache-Size,…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Achte auf Objekt-Lebenszyklus (Leak vermeiden)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6F71020-3150-48EC-ABF3-410503A06EB2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4"/>
          <p:cNvSpPr>
            <a:spLocks noGrp="1"/>
          </p:cNvSpPr>
          <p:nvPr>
            <p:ph type="sldNum" idx="4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5AA3C1-2797-4798-81CA-86A52905FCC9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15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„Gauge“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4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54D8998-328C-4596-A0DE-80D43C82AA2F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4"/>
          <p:cNvSpPr>
            <a:spLocks noGrp="1"/>
          </p:cNvSpPr>
          <p:nvPr>
            <p:ph type="sldNum" idx="4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D17B5C-E9B1-4532-A7EE-C39EA99256A8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16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Programmatic1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AtomicInteger queueSize = new AtomicInteger(0);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Gauge.builder(„queue.size“, queueSize, AtomicInteger::get)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.tag(„queue“, „orders“)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.register(meterRegistry);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 2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meterRegistry.gauge(„queue.size“, queueSize);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Usage in code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queueSize.incrementAndGet();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„Gauge“ – Fallstricke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2495880"/>
            <a:ext cx="10466640" cy="33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Leak-Gefahr: Gauge referenziert das beobachtete Objekt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Wingdings" charset="2"/>
              <a:buChar char=""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Objekt kann nicht vom GC entfernt werden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Wingdings" charset="2"/>
              <a:buChar char=""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Bei kurzlebigen Objekten → Memory Leak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Lösung: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-"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Nur langlebige Objekte referenzieren (z.B. aus Singeltons)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-"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Oder: nach Benutzung Gauge entfernen (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meterRegistry.remove(gauge)</a:t>
            </a: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E81D5B9-7C07-4DB2-9660-D4BC47DA34ED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4"/>
          <p:cNvSpPr>
            <a:spLocks noGrp="1"/>
          </p:cNvSpPr>
          <p:nvPr>
            <p:ph type="sldNum" idx="5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13CF04-0D52-4D57-80AD-584CF4736FA8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17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Textfeld 8"/>
          <p:cNvSpPr/>
          <p:nvPr/>
        </p:nvSpPr>
        <p:spPr>
          <a:xfrm>
            <a:off x="4119480" y="6176880"/>
            <a:ext cx="183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„Gauge“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In der Klasse ItemScheduler werden regelmäßig Bestellungen behandelt. Manchmal auch parallel.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Erstelle einen Gauge für den Executor, um die Anzahl der parallel laufenden Threads, sowie die aktuelle Größe der Warteschlange zu überwachen.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Erstelle in Grafana jeweils ein Diagram mit Min/Actual/Max Werte über die letzten 24 Stunden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45BFBD8-9315-41D1-8BE6-6A13BA0ADBE7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7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PlaceHolder 4"/>
          <p:cNvSpPr>
            <a:spLocks noGrp="1"/>
          </p:cNvSpPr>
          <p:nvPr>
            <p:ph type="sldNum" idx="5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461744-E563-4413-815C-C64DF6B9A327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18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„DistributionSummary“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Sammlung von verteilten Messwerten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Für Messwerte mit Streuung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Typische Kennzahlen: count, total_time, max, mean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Percentiles/Histogramme optional aktivierbar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Beispiele: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Größe von HTTP-Responses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Größe von hochgeladenen Dateien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Anzahl der Elemente pro Transaktion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5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7724EEF-880D-41AD-9363-BF22AA928DF2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PlaceHolder 4"/>
          <p:cNvSpPr>
            <a:spLocks noGrp="1"/>
          </p:cNvSpPr>
          <p:nvPr>
            <p:ph type="sldNum" idx="5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160627-58CB-415C-B6C7-5CDD57C560B2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19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DistributionSummary“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D45D896-4F40-425C-B4B6-4FCA0AF070A9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7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PlaceHolder 4"/>
          <p:cNvSpPr>
            <a:spLocks noGrp="1"/>
          </p:cNvSpPr>
          <p:nvPr>
            <p:ph type="sldNum" idx="5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D24DAD-597B-413A-88E2-5CABB325D7E1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20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Programmatic1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DistributionSummary summary = DistributionSummary.builder("http.response.size")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.baseUnit("bytes")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.description("Größe von HTTP Responses in Bytes")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.publishPercentileHistogram() // für p95/p99 in Prometheus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.register(registry);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Usage in code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summary.record(responseBytes);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DistributionSummary“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Es existiert bereits einen Filter, der die Response-Größen auf die Konsole ausgibt (Datei ResponseSizeFilter.java). Ersetze die Ausgabe auf der Console durch eine DistributionSummary. 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Aktiviere Prozentile für 50%, 95% und 99%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Lege eine sinnvolle Basiseinheit fest.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Zeige die Werte in Grafana.</a:t>
            </a:r>
            <a:br>
              <a:rPr sz="1600"/>
            </a:b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 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6CDFCAA-33A8-4890-BF14-B4144593D1FA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3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4"/>
          <p:cNvSpPr>
            <a:spLocks noGrp="1"/>
          </p:cNvSpPr>
          <p:nvPr>
            <p:ph type="sldNum" idx="5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226631-5A11-40B8-9E71-081C725CB2E1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„LongTaskTimer“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Misst laufende, lang andauernde Tasks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Typische Kennzahlen: active_tasks, duration (gesamt und max)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Wird mit Samples gemessen: Start/Stop pro Aufruf.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Ideal für Batch-Jobs, Streams, Migrations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5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6E55F6D-E92D-4CD9-9EF1-8F44D6074F90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8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PlaceHolder 4"/>
          <p:cNvSpPr>
            <a:spLocks noGrp="1"/>
          </p:cNvSpPr>
          <p:nvPr>
            <p:ph type="sldNum" idx="6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182ED8-A435-4954-AC01-436813248B33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22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LongTaskTimer“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08F7618-6735-48DB-B4CE-5DF87677DD94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3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PlaceHolder 4"/>
          <p:cNvSpPr>
            <a:spLocks noGrp="1"/>
          </p:cNvSpPr>
          <p:nvPr>
            <p:ph type="sldNum" idx="6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152F43-E68F-40D1-844C-1CBB6B53C308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23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Programmatic: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LongTaskTimer ltt = LongTaskTimer.builder(„batch.job.duration")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.tag(„job“, „nightly-import“)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.description(„Dauer des nightly Imports")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.register(registry);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Usage in code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LongTaskTimer.Sample s = ltt.start();</a:t>
            </a:r>
            <a:br>
              <a:rPr sz="1800"/>
            </a:b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try {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runImport();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} finally {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s.stop();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}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LongTaskTimer“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Es existiert bereits ein Scheduled Task („buildMinutely“ in Datei ItemScheduler) , der jede Minute ein Item neu erstellt. 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Logge mit einem LongTaskTimer die Dauer der Itemerstellung.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Zeige in Grafana die Anzahl der gleichzeitig laufenden Tasks an.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Zeige in Grafana die aktuelle durchschnittliche Laufzeit an.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795D4DC-A7A0-4BD0-AFF9-2BBE2A56D931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9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PlaceHolder 4"/>
          <p:cNvSpPr>
            <a:spLocks noGrp="1"/>
          </p:cNvSpPr>
          <p:nvPr>
            <p:ph type="sldNum" idx="6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2C4055-83A0-4003-AA4B-BF07603789D5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24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„FunctionCounter“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Zähler-Wert wird aus einer Funktion abgeleitet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Muss nicht aktiv inkrementiert werden (Pull Modell)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Geeignet für bereits vorhandene Zählstände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Zählt nicht selbst, sondern verwendet den Zähler von Methoden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Auf stets nicht negative Werte achten.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6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1794BAD-952D-4C18-B48B-81E6371249A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4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PlaceHolder 4"/>
          <p:cNvSpPr>
            <a:spLocks noGrp="1"/>
          </p:cNvSpPr>
          <p:nvPr>
            <p:ph type="sldNum" idx="6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A1CA7A-2498-47B2-9736-7672E5200809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25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FunctionCounter“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7DD8EA1-045B-4CA2-9C29-264FA27C789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9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PlaceHolder 4"/>
          <p:cNvSpPr>
            <a:spLocks noGrp="1"/>
          </p:cNvSpPr>
          <p:nvPr>
            <p:ph type="sldNum" idx="6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DA2D14-3C1F-49E3-965E-C6179E8CC638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26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FunctionCounter.builder(„cache.hits“, cacheStats, cs -&gt; cs.getHitCount())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.tag(„cache“, „products“)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.description(„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Number of cache hits for the 'products' cache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.register(registry);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FunctionCounter“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Es existiert bereits eine Klasse ItemCache, mit der regelmäßig das Item geprüft wird.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Erstelle einen FunctionCounter, der die Anzahl der Checks mitzählt.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Zeige die Anzahl der Checks im Grafana an.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C440ED7-7986-4BBC-AE2C-858FDF3D5576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PlaceHolder 4"/>
          <p:cNvSpPr>
            <a:spLocks noGrp="1"/>
          </p:cNvSpPr>
          <p:nvPr>
            <p:ph type="sldNum" idx="7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930CA6-AE37-4DE5-ABFB-4547B7CDA28F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27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„FunctionTimer“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Liefert Anzahl und Gesamtzeit aus Funktionen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Zeit-Einheit wird konfiguriert (z.B. ms)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Ideal, wenn Stats schon gesammelt werden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Kennzahlen: count, total_time und abgeleitete mean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dt" idx="7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6970557-9D7D-41FA-9EA0-CD40C1181D3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0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PlaceHolder 4"/>
          <p:cNvSpPr>
            <a:spLocks noGrp="1"/>
          </p:cNvSpPr>
          <p:nvPr>
            <p:ph type="sldNum" idx="7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8CCE4F-9C00-4A67-9045-6E4704649427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28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FunctionTimer“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dt" idx="7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4A0E1A9-C01E-4E28-8D2F-10EC35F39ED4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PlaceHolder 4"/>
          <p:cNvSpPr>
            <a:spLocks noGrp="1"/>
          </p:cNvSpPr>
          <p:nvPr>
            <p:ph type="sldNum" idx="7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2115E6-5AD5-4313-923D-CB14203867E7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29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FunctionTimer.builder(„api.calls“, apiStats,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ApiStats::getCount,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ApiStats::getTotalTimeMillis,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java.util.concurrent.TimeUnit.MILLISECONDS)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.tag(„client“, „mobile“)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.description(„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Tracks the number and total duration of API calls based on values from apiStats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.register(registry);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FunctionTimer“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Erweitere die Klasse ItemCache um den Parameter „private long totalTime;“ und der entsprechenden Getter Methode.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Erweitere den Konstruktor um einen Wert für totalTime.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Erstelle einen FunctionTimer für den ItemCache.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Der FunctionTimer soll an den gleichen Stellen wie der FunctionCounter getriggert werden.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Vergleiche die Werte von FunctionCounter und FunctionTimer.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Zeige in Grafana die Aufrufe und die durchschnittliche Bearbeitungsdauer an.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11CCB71-A8CA-46C7-8728-E76A3AFC435E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1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PlaceHolder 4"/>
          <p:cNvSpPr>
            <a:spLocks noGrp="1"/>
          </p:cNvSpPr>
          <p:nvPr>
            <p:ph type="sldNum" idx="7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21E2A0-43A0-4983-8214-E153A13C2C99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30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„TimeGauge“ – Konzept und Einsatz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Spezialisierte Gauge für Zeitwerte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Gibt einen Zeitpunkt/Zeitraum in Einheiten zurück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Einsatz: Uptime eines Objekts, Restzeiten, TTL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Beachte korrekte Einheitendeklaration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7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F1BCEE1-EE4D-47FC-8770-2530F244F1DB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6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PlaceHolder 4"/>
          <p:cNvSpPr>
            <a:spLocks noGrp="1"/>
          </p:cNvSpPr>
          <p:nvPr>
            <p:ph type="sldNum" idx="7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7798C7-A7F6-4684-BCA0-FD903051A542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TimeGauge“ - Beispiel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838080" y="2636640"/>
            <a:ext cx="5256360" cy="353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dt" idx="7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BE196C0-3A89-4A04-B0E2-A5BCE92E5B2B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1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PlaceHolder 4"/>
          <p:cNvSpPr>
            <a:spLocks noGrp="1"/>
          </p:cNvSpPr>
          <p:nvPr>
            <p:ph type="sldNum" idx="8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12E5E5-0D54-4679-86B6-B6800D6E118C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32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feld 9"/>
          <p:cNvSpPr/>
          <p:nvPr/>
        </p:nvSpPr>
        <p:spPr>
          <a:xfrm>
            <a:off x="942840" y="2467440"/>
            <a:ext cx="10514160" cy="3538800"/>
          </a:xfrm>
          <a:prstGeom prst="rect">
            <a:avLst/>
          </a:prstGeom>
          <a:solidFill>
            <a:srgbClr val="3EB1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Programmatic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// Declaration and initialization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TimeGauge.builder(„thread.alive.time“, worker,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java.util.concurrent.TimeUnit.SECONDS,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Worker::getAliveSeconds)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.tag(„worker“, „A“)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.description(„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Alive time of the thread</a:t>
            </a: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               .register(registry);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Metrik „ TimeGauge“ – Übung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Es existiert bereits eine Worker-Klasse, die angibt ob ein Arbeiter da ist oder nicht. 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Ein Arbeiter kommt jeden Morgen um 9 Uhr und bleibt üblicherweise 8 Stunden.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Startete das Programm nach 9 Uhr, wird davon ausgegangen, dass der Arbeiter erst bei Programmstart seine Schicht antritt.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Füge einen GaugeTimer hinzu, der die Arbeitszeit mitloggt.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Visualisiere im Grafana die Restarbeitszeit für diesen Tag in Stunden, Minuten und Sekunden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2364BD0-EA8E-4CDA-BF28-50963CFADE31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7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PlaceHolder 4"/>
          <p:cNvSpPr>
            <a:spLocks noGrp="1"/>
          </p:cNvSpPr>
          <p:nvPr>
            <p:ph type="sldNum" idx="8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EA0CA8-8DA6-4423-9CD0-8FFF2B50555A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33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Was sind Perzentile?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Ein Perzentil beschreibt, unter welchem Wert ein bestimmter Prozentsatz der Daten liegt: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p50 (Median): 50% der Werte sind kleiner oder gleich.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p95: 95% der Werte sind kleiner oder gleich.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p99: 99% der Werte sind kleiner oder gleich.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Beispiel: 95 % der Requests dauern &lt;= 250 ms, 5 % sind langsamer.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Symbol" charset="2"/>
              <a:buChar char="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Perzentile sind aussagekräftiger als der Durchschnitt, da Ausreißer nicht mitbeachtet werden.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dt" idx="8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9F218D5-D19A-4730-A1E5-9DD0B5E641C3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PlaceHolder 4"/>
          <p:cNvSpPr>
            <a:spLocks noGrp="1"/>
          </p:cNvSpPr>
          <p:nvPr>
            <p:ph type="sldNum" idx="8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4749CB-7967-42AF-BAED-F5EFA17FDD8E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34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dt" idx="8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6DE21A9-6DCF-4B29-8DAE-93B210C6948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Was ist Kardinalität?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Kardinalität bei Metriken beschreibt die Anzahl unterschiedlicher Kombinationen von Labels (Tags), die eine Metrik annehmen kann.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Beispiel: </a:t>
            </a:r>
            <a:r>
              <a:rPr lang="en-US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http.server.requests{method="GET", status="200", uri="/products"} 123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method: GET, POST,PUT,DELETE 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 4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status: 200, 400, 404, 500 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 4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uri: 100 verschiedene URIs 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 100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Gesamtkardinalität: 4 * 4 * 100 = 1600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Problem: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hoher Speicherverbrauch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Performance-Probleme in Prometheus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Dashboards werden unübersichtlich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  <a:tabLst>
                <a:tab pos="0" algn="l"/>
              </a:tabLst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Exporter und Agenten können überlastet werden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sldNum" idx="8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C1915D-F873-4F3B-96B6-39714059CBFE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35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Best Practices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Metriknamen konsistent (namespaces, dots) und mit BaseUnits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Tags sparsam verwenden (Kardinalität beachten)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Percentiles/Histogramme nur wo nötig aktivieren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Arial"/>
              <a:buChar char="•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Nicht-blockierende Messung, Overhead minimieren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D39E915-02BF-431F-9783-50CC0A5390AF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PlaceHolder 4"/>
          <p:cNvSpPr>
            <a:spLocks noGrp="1"/>
          </p:cNvSpPr>
          <p:nvPr>
            <p:ph type="sldNum" idx="8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64C0EA-4E93-40CC-AE52-EA89A83A9E5F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36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„Timer“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Welche zwei Größen liefert der Timer immer?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Dauer und Anzahl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Anzahl und Gauge-Wert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Dauer und Speicher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Wie misst du die Dauer einer Code-Section ohne Annotation?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Counter.increment()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Timer.record()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Gauge.set()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dt" idx="8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F031C46-2AEB-4FE4-A221-3EC4CBE4E5F3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7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PlaceHolder 4"/>
          <p:cNvSpPr>
            <a:spLocks noGrp="1"/>
          </p:cNvSpPr>
          <p:nvPr>
            <p:ph type="sldNum" idx="9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FFE70A-0352-4739-9F65-9C74D64FE026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37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9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287172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Grafik 10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494532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dt" idx="9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1D3A87E-81C9-4B5D-AA40-880184AE5BC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„Counter“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25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misst man mit einen Counter?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Einen Wert, der steigen und fallen kann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Einen absoluten Zeitwert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Eine kumulative Anzahl von Ereignissen, die nur steigen kann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Die Anzahl der aktiven Threads im System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Wie wird ein Counter in Micrometer typischerweise erstellt?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Counter.create(„my.counter“)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registry.timer(„my.counter“)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Counter.builder(„my.counter“).register(registry)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registry.counter(„my.counter“).increment(-1)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passiert, wenn du „counter.increment(-5)“ aufrufst?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Der Counter sinkt um 5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Eine Exception wird geworfen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Der Aufruf wird ignoriert, keine Änderung am Zähler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Der Counter wird auf 0 gesetzt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 type="sldNum" idx="9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B4C0C5-82CF-4D4E-BEC3-D6CA86DAD801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38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6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13884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436320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Grafik 5" descr="Häkchen mit einfarbiger Füllu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324080" y="559224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25938C9-E8A4-472D-AD09-A8E55144169B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„Gauge“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Ist eine Gauge immer monoton steigend?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Ja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Nein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kann passieren, wenn eine Gauge kurzlebige Objekte überwacht?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Die Speicherauslastung wird verbessert, da kurzlebige Objekte nicht lange existieren.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Es wirkt sich negativ auf die Speicherauslastung aus, da sich immer mehr Objekte ansammeln.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ist am geeignetsten dafür, Gauges zu verwenden?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Singltons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Jobs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Sessions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Requests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sldNum" idx="9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169D03-A284-4DB0-8E3A-A35493E218BB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39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4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03084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398340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Grafik 5" descr="Häkchen mit einfarbiger Füllu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324080" y="461844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dt" idx="9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9622F0A-1609-40BF-B422-F0C1E3525F09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8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„DistributionSummary“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Wofür ist DistributionSummary prädestiniert?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Dauer von Requests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Verteilung numerischer Werte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Zustand von Flags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passiert, wenn ein record(0) oder ein negativer Wert an das Distribution Summary übergeben werden?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Der Wert wird normal gespeichert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Eine Exception wird geworfen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Der Wert wird ignoriert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Das Summary wird zurückgesetzt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sldNum" idx="9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4C38DF-C9F8-418F-B49F-5CD7BD92C3BD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40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2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17628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559044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dt" idx="9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016DDBC-FB00-4100-AA20-D9F643B583BC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„LongTaskTimer“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Wann ist der LongTaskTimer besser als Timer?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Für Millisekunden-Tasks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Für lang laufende Prozesse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passiert, wenn du sample.stop() bei einem LongTaskTimer vergisst?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Es wird automatisch nach 10 Minuten gestoppt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Es wird ein Fehler im Code geworfen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Der Task bleibt aktiv und wird weiterhin als „laufend“ gezählt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Die Metrik wird ignoriert und nicht aufgezeichnet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sldNum" idx="9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F21A9A-D6DC-4506-A084-CFCB22B61796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9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31956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497772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3C4FAA3-C963-4FF8-AA10-B607A973C828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2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„FunctionCounter“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Wie aktualisiert sich ein FunctionCounter?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Durch increment()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Über Funktionsauswertung (Pull)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unterscheidet FunctionCounter von einem normalen Counter?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Es gibt keinen Unterschied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FunctionCounter zählt automatisch pro Sekunde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FunctionCounter zählt nur Fehler, Counter zählt alles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FunctionCounter liest den Zählerwert aus einem Objekt, Counter erhöht den Zähler aktiv im Code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 type="sldNum" idx="100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CCA97F-4C0F-4819-8059-D7B58A253F64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42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6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27060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540864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9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5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dt" idx="10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37BF8E8-328E-425E-B937-21AEEF5BC412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9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„FunctionTimer“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liefert ein FunctionTimer zusätzlich zur Anzahl?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Total Time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Speicherverbrauch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Thread-Anzahl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Wann ist der Einsatz eines FunctionTimer sinnvoll?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Wenn man die Dauer einzelner Funktionsaufrufe direkt im Code messen möchte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Wenn man die Anzahl und Gesamtdauer von Events aus einem vorhandenen Objekt auslesen möchtest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Wenn man Prometheus nicht verwendet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Was ist notwendig, damit ein FunctionTimer korrekt funktioniert?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Die überwachte Klasse muss Runnable implementieren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start() und stop() muss manuell aufgerufen werden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Man muss Zugriff auf count und total_time haben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Es wird automatisch die CPU-Auslastung gemessen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sldNum" idx="102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B1BFCF-9AD9-4DD4-B5A5-7B18CCE3723F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43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3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268632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24080" y="401616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Grafik 5" descr="Häkchen mit einfarbiger Füllu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316160" y="512316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dt" idx="10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28E58C6-FCAF-4BC0-BD92-4DE0B5874428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7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 - „TimeGauge“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Worin besteht der Unterschied zwischen TimerGauge und Gauge?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TimeGauge hat Zeiteinheit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TimeGauge ist immer monoton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Kein unterschied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sldNum" idx="104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FD46E0-D4B1-4697-8EFA-17E1689BC366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44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04704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7" dur="indefinite" restart="never" nodeType="tmRoot">
          <p:childTnLst>
            <p:seq>
              <p:cTn id="118" dur="indefinite" nodeType="mainSeq">
                <p:childTnLst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C33B186-D373-47AF-9A9C-74BD733CC8D6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Grafik 6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Quiz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Welche Metrik nutzt man für laufende Batch-Jobs?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Timer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LongTaskTimer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Gauge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Welche Metrik misst eine Werteverteilung (nicht Dauer)?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DistributionSummary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FunctionTimer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Counter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343080" indent="-34308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alibri Light"/>
              <a:buAutoNum type="arabicPeriod"/>
            </a:pPr>
            <a:r>
              <a:rPr lang="de-DE" sz="1600" b="0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Wie reduzierst man Metrik-Kardinalität?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Mehr Tags hinzufügen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Tags normalisieren/limitieren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marL="685800" lvl="1" indent="-228600" algn="l" defTabSz="914400">
              <a:lnSpc>
                <a:spcPct val="130000"/>
              </a:lnSpc>
              <a:spcBef>
                <a:spcPts val="1417"/>
              </a:spcBef>
              <a:buClr>
                <a:srgbClr val="1F2222"/>
              </a:buClr>
              <a:buSzPct val="45000"/>
              <a:buFont typeface="Courier New"/>
              <a:buChar char="o"/>
            </a:pPr>
            <a:r>
              <a:rPr lang="de-DE" sz="2200" b="0" u="none" spc="130" strike="noStrike">
                <a:solidFill>
                  <a:schemeClr val="dk1"/>
                </a:solidFill>
                <a:effectLst/>
                <a:uFillTx/>
                <a:latin typeface="Calibri"/>
              </a:rPr>
              <a:t>Alles als Gauge messen</a:t>
            </a:r>
            <a:endParaRPr lang="de-DE" sz="22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sldNum" idx="106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9FB904-C8CC-446C-97A8-2BC68DC9C50B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45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Grafik 9" descr="Häkchen mit einfarbiger Füllu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24080" y="302724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8" name="Grafik 4" descr="Häkchen mit einfarbiger Füllu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16160" y="3860280"/>
            <a:ext cx="270000" cy="2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Grafik 5" descr="Häkchen mit einfarbiger Füllu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317600" y="5343480"/>
            <a:ext cx="270000" cy="2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3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4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dt" idx="10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7AF266E-B7D5-4C83-B15B-DDD0CBAC4E39}" type="datetime1"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29.05.2026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1" name="Grafik 8"/>
          <p:cNvPicPr/>
          <p:nvPr/>
        </p:nvPicPr>
        <p:blipFill>
          <a:blip r:embed="rId1"/>
          <a:stretch/>
        </p:blipFill>
        <p:spPr>
          <a:xfrm>
            <a:off x="-229680" y="5843520"/>
            <a:ext cx="2434680" cy="19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PlaceHolder 2"/>
          <p:cNvSpPr>
            <a:spLocks noGrp="1"/>
          </p:cNvSpPr>
          <p:nvPr>
            <p:ph type="title"/>
          </p:nvPr>
        </p:nvSpPr>
        <p:spPr>
          <a:xfrm>
            <a:off x="790560" y="96228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000" b="1" u="none" spc="130" strike="noStrike">
                <a:solidFill>
                  <a:schemeClr val="dk1"/>
                </a:solidFill>
                <a:effectLst/>
                <a:uFillTx/>
                <a:latin typeface="Kallisto"/>
              </a:rPr>
              <a:t>Ende</a:t>
            </a:r>
            <a:endParaRPr lang="de-DE" sz="40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838080" y="2422800"/>
            <a:ext cx="10466640" cy="375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Noch Fragen?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13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de-DE" sz="1600" b="1" u="none" spc="130" strike="noStrike">
                <a:solidFill>
                  <a:schemeClr val="dk1"/>
                </a:solidFill>
                <a:effectLst/>
                <a:uFillTx/>
                <a:latin typeface="Kallisto Medium"/>
              </a:rPr>
              <a:t>Ansonsten vielen Dank für die Aufmerksamkeit.</a:t>
            </a: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pc="130" strike="noStrike">
              <a:solidFill>
                <a:schemeClr val="dk1"/>
              </a:solidFill>
              <a:effectLst/>
              <a:uFillTx/>
              <a:latin typeface="Kallisto Medium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sldNum" idx="108"/>
          </p:nvPr>
        </p:nvSpPr>
        <p:spPr>
          <a:xfrm>
            <a:off x="9110160" y="639540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1D8755-4D92-48CC-8810-B193B79EAFA4}" type="slidenum">
              <a:rPr lang="de-DE" sz="1400" b="1" u="none" strike="noStrike">
                <a:solidFill>
                  <a:schemeClr val="dk1"/>
                </a:solidFill>
                <a:effectLst/>
                <a:uFillTx/>
                <a:latin typeface="Kallisto"/>
              </a:rPr>
              <a:t>46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S-IT Colors">
      <a:dk1>
        <a:srgbClr val="1F2222"/>
      </a:dk1>
      <a:lt1>
        <a:srgbClr val="FFFFFF"/>
      </a:lt1>
      <a:dk2>
        <a:srgbClr val="272525"/>
      </a:dk2>
      <a:lt2>
        <a:srgbClr val="E7E6E6"/>
      </a:lt2>
      <a:accent1>
        <a:srgbClr val="E32828"/>
      </a:accent1>
      <a:accent2>
        <a:srgbClr val="3CB2C9"/>
      </a:accent2>
      <a:accent3>
        <a:srgbClr val="FBC10E"/>
      </a:accent3>
      <a:accent4>
        <a:srgbClr val="EE7327"/>
      </a:accent4>
      <a:accent5>
        <a:srgbClr val="E7206E"/>
      </a:accent5>
      <a:accent6>
        <a:srgbClr val="66BFAC"/>
      </a:accent6>
      <a:hlink>
        <a:srgbClr val="93C35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Application>LibreOffice/26.2.2.2$Linux_X86_64 LibreOffice_project/620$Build-2</Application>
  <AppVersion>15.0000</AppVersion>
  <Words>4235</Words>
  <Paragraphs>901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2021-11-29T15:07:52Z</dcterms:created>
  <dc:creator>Nora Raab</dc:creator>
  <dc:description/>
  <dc:language>de-DE</dc:language>
  <cp:lastModifiedBy/>
  <dcterms:modified xsi:type="dcterms:W3CDTF">2026-05-29T12:26:16Z</dcterms:modified>
  <cp:revision>349</cp:revision>
  <dc:subject/>
  <dc:title>PRÄSENTATION LAYOUT S-IT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11</vt:i4>
  </property>
  <property fmtid="{D5CDD505-2E9C-101B-9397-08002B2CF9AE}" pid="3" name="MSIP_Label_f8aa9a5c-be62-419f-a028-e659a0ae4663_ActionId">
    <vt:lpwstr>91beba31-609a-414b-8cd7-473f89e58a09</vt:lpwstr>
  </property>
  <property fmtid="{D5CDD505-2E9C-101B-9397-08002B2CF9AE}" pid="4" name="MSIP_Label_f8aa9a5c-be62-419f-a028-e659a0ae4663_ContentBits">
    <vt:lpwstr>0</vt:lpwstr>
  </property>
  <property fmtid="{D5CDD505-2E9C-101B-9397-08002B2CF9AE}" pid="5" name="MSIP_Label_f8aa9a5c-be62-419f-a028-e659a0ae4663_Enabled">
    <vt:lpwstr>true</vt:lpwstr>
  </property>
  <property fmtid="{D5CDD505-2E9C-101B-9397-08002B2CF9AE}" pid="6" name="MSIP_Label_f8aa9a5c-be62-419f-a028-e659a0ae4663_Method">
    <vt:lpwstr>Standard</vt:lpwstr>
  </property>
  <property fmtid="{D5CDD505-2E9C-101B-9397-08002B2CF9AE}" pid="7" name="MSIP_Label_f8aa9a5c-be62-419f-a028-e659a0ae4663_Name">
    <vt:lpwstr>Confidential - Allgemein</vt:lpwstr>
  </property>
  <property fmtid="{D5CDD505-2E9C-101B-9397-08002B2CF9AE}" pid="8" name="MSIP_Label_f8aa9a5c-be62-419f-a028-e659a0ae4663_SetDate">
    <vt:lpwstr>2025-08-29T10:05:15Z</vt:lpwstr>
  </property>
  <property fmtid="{D5CDD505-2E9C-101B-9397-08002B2CF9AE}" pid="9" name="MSIP_Label_f8aa9a5c-be62-419f-a028-e659a0ae4663_SiteId">
    <vt:lpwstr>24e14e59-e1ad-47d5-99c4-d61678449b6f</vt:lpwstr>
  </property>
  <property fmtid="{D5CDD505-2E9C-101B-9397-08002B2CF9AE}" pid="10" name="MSIP_Label_f8aa9a5c-be62-419f-a028-e659a0ae4663_Tag">
    <vt:lpwstr>10, 3, 0, 1</vt:lpwstr>
  </property>
  <property fmtid="{D5CDD505-2E9C-101B-9397-08002B2CF9AE}" pid="11" name="Notes">
    <vt:i4>43</vt:i4>
  </property>
  <property fmtid="{D5CDD505-2E9C-101B-9397-08002B2CF9AE}" pid="12" name="PresentationFormat">
    <vt:lpwstr>Breitbild</vt:lpwstr>
  </property>
  <property fmtid="{D5CDD505-2E9C-101B-9397-08002B2CF9AE}" pid="13" name="Slides">
    <vt:i4>75</vt:i4>
  </property>
</Properties>
</file>